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5353caf3594682" /><Relationship Type="http://schemas.openxmlformats.org/officeDocument/2006/relationships/extended-properties" Target="/docProps/app.xml" Id="R1cd2243c21684acc" /><Relationship Type="http://schemas.openxmlformats.org/officeDocument/2006/relationships/officeDocument" Target="/ppt/presentation.xml" Id="R5457acdd6ef14aba" 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>
  <ns0:sldMasterIdLst>
    <ns0:sldMasterId id="2147483648" ns1:id="R587c3c1a7df74e88"/>
  </ns0:sldMasterIdLst>
  <ns0:notesMasterIdLst>
    <ns0:notesMasterId ns1:id="R524b780e0dba4558"/>
  </ns0:notesMasterIdLst>
  <ns0:sldIdLst>
    <ns0:sldId id="256" ns1:id="Rdabdaabbcba140a7"/>
  </ns0:sldIdLst>
  <ns0:sldSz cx="6547104" cy="3579871"/>
  <ns0:notesSz cx="6858000" cy="9144000"/>
  <ns0:defaultTextStyle>
    <ns2:defPPr>
      <ns2:buNone/>
    </ns2:defPPr>
    <ns2:lvl1pPr marL="0" algn="l" defTabSz="9144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1pPr>
    <ns2:lvl2pPr marL="457200" algn="l" defTabSz="9144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2pPr>
    <ns2:lvl3pPr marL="914400" algn="l" defTabSz="9144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3pPr>
    <ns2:lvl4pPr marL="1371600" algn="l" defTabSz="9144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4pPr>
    <ns2:lvl5pPr marL="1828800" algn="l" defTabSz="9144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5pPr>
    <ns2:lvl6pPr marL="2286000" algn="l" defTabSz="9144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6pPr>
    <ns2:lvl7pPr marL="2743200" algn="l" defTabSz="9144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7pPr>
    <ns2:lvl8pPr marL="3200400" algn="l" defTabSz="9144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8pPr>
    <ns2:lvl9pPr marL="3657600" algn="l" defTabSz="9144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9pPr>
  </ns0:defaultTextStyle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76dbcb588342d0" /><Relationship Type="http://schemas.openxmlformats.org/officeDocument/2006/relationships/slideMaster" Target="/ppt/slideMasters/slideMaster1.xml" Id="R587c3c1a7df74e88" /><Relationship Type="http://schemas.openxmlformats.org/officeDocument/2006/relationships/notesMaster" Target="/ppt/notesMasters/notesMaster1.xml" Id="R524b780e0dba4558" /><Relationship Type="http://schemas.openxmlformats.org/officeDocument/2006/relationships/presProps" Target="/ppt/presProps.xml" Id="R652e99d766a94e14" /><Relationship Type="http://schemas.openxmlformats.org/officeDocument/2006/relationships/viewProps" Target="/ppt/viewProps.xml" Id="R7666ab4440d343de" /><Relationship Type="http://schemas.openxmlformats.org/officeDocument/2006/relationships/tableStyles" Target="/ppt/tableStyles.xml" Id="Rf26b0ffa077a4d94" /><Relationship Type="http://schemas.openxmlformats.org/officeDocument/2006/relationships/slide" Target="/ppt/slides/slide1.xml" Id="Rdabdaabbcba140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6b6c5475104e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428e7bc0d1477e" /><Relationship Type="http://schemas.openxmlformats.org/officeDocument/2006/relationships/notesMaster" Target="/ppt/notesMasters/notesMaster1.xml" Id="R66e60c78728844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Rearranged from the user-supplied system_diagram_v3_entropy.pptx. All diagram objects remain editable. Utilization uses results/n1024_consistency_20261019_v1/family_snr_summary.csv. Dimensions are normalized to 7.16 inches in the deterministic export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e2cd0197447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b6444e32f44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5e0385e7a42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4640be8b34e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00ec1d98e46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e0c39c42a40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123650-5648-4162-83EE-8945ABAD6B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89735" y="3191722"/>
            <a:ext cx="13517880" cy="1220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1D520D-DB28-49ED-9E16-1F656FE065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34603" y="4646771"/>
            <a:ext cx="11828145" cy="938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2D557F-2513-48A0-AEF4-B15C4AE162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89735" y="3520281"/>
            <a:ext cx="13517880" cy="140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4319FD-6B11-4875-B0A1-FDAA4EA7A4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0476" y="657119"/>
            <a:ext cx="14996398" cy="1032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CF45AC-F26A-4F04-8DD9-9CE64D3AD3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0476" y="2346854"/>
            <a:ext cx="14996398" cy="5256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62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711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261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0811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8360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5910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3460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1009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8559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0EC67B-6F1B-41EC-9838-7D2292832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0476" y="657119"/>
            <a:ext cx="14996398" cy="1032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2D23E0-2EAD-4909-AEC5-9083F03DDC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0476" y="2346854"/>
            <a:ext cx="6970157" cy="5256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62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711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261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0811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8360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5910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3460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1009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8559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9E1A6D-E066-4E57-B315-DF369FA8B9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976717" y="2346854"/>
            <a:ext cx="6970157" cy="5256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62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711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261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0811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8360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5910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3460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1009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8559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684733-5CD5-47DA-B4DC-9497B3B8CE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0476" y="657119"/>
            <a:ext cx="14996398" cy="1032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4D99D8-016D-4AA6-8435-D077C562AE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0476" y="2346854"/>
            <a:ext cx="6970157" cy="5256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62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711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261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0811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8360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5910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34603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10099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85596" indent="-281623" algn="l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030cf672324e67" /><Relationship Type="http://schemas.openxmlformats.org/officeDocument/2006/relationships/slideLayout" Target="/ppt/slideLayouts/slideLayout1.xml" Id="Rfeefbfab7012461b" /><Relationship Type="http://schemas.openxmlformats.org/officeDocument/2006/relationships/slideLayout" Target="/ppt/slideLayouts/slideLayout2.xml" Id="R371d7722f0454a5c" /><Relationship Type="http://schemas.openxmlformats.org/officeDocument/2006/relationships/slideLayout" Target="/ppt/slideLayouts/slideLayout3.xml" Id="R8f6ea719acb24860" /><Relationship Type="http://schemas.openxmlformats.org/officeDocument/2006/relationships/slideLayout" Target="/ppt/slideLayouts/slideLayout4.xml" Id="Rd0e58cc66c1b4f86" /><Relationship Type="http://schemas.openxmlformats.org/officeDocument/2006/relationships/slideLayout" Target="/ppt/slideLayouts/slideLayout5.xml" Id="Rb0804903d08c4cc3" /><Relationship Type="http://schemas.openxmlformats.org/officeDocument/2006/relationships/slideLayout" Target="/ppt/slideLayouts/slideLayout6.xml" Id="R8a1af76abe5548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efbfab7012461b"/>
    <p:sldLayoutId xmlns:r="http://schemas.openxmlformats.org/officeDocument/2006/relationships" id="2147483650" r:id="R371d7722f0454a5c"/>
    <p:sldLayoutId xmlns:r="http://schemas.openxmlformats.org/officeDocument/2006/relationships" id="2147483651" r:id="R8f6ea719acb24860"/>
    <p:sldLayoutId xmlns:r="http://schemas.openxmlformats.org/officeDocument/2006/relationships" id="2147483652" r:id="Rd0e58cc66c1b4f86"/>
    <p:sldLayoutId xmlns:r="http://schemas.openxmlformats.org/officeDocument/2006/relationships" id="2147483653" r:id="Rb0804903d08c4cc3"/>
    <p:sldLayoutId xmlns:r="http://schemas.openxmlformats.org/officeDocument/2006/relationships" id="2147483654" r:id="R8a1af76abe5548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79434806347af" /><Relationship Type="http://schemas.openxmlformats.org/officeDocument/2006/relationships/notesSlide" Target="/ppt/notesSlides/notesSlide1.xml" Id="Rc7092a8927e141d9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cxnSp>
        <ns0:nvCxnSpPr>
          <ns0:cNvPr id="2049" name="">
            <ns1:extLst>
              <ns1:ext uri="{FF2B5EF4-FFF2-40B4-BE49-F238E27FC236}">
                <ns2:creationId id="{6378D79B-FE4C-4E2C-A380-9872094D9377}"/>
              </ns1:ext>
            </ns1:extLst>
          </ns0:cNvPr>
          <ns0:cNvCxnSpPr>
            <ns1:stCxn id="2044" idx="3"/>
            <ns1:endCxn id="2045" idx="1"/>
          </ns0:cNvCxnSpPr>
          <ns0:nvPr/>
        </ns0:nvCxnSpPr>
        <ns0:spPr>
          <ns1:xfrm>
            <ns1:off x="5037653" y="2989377"/>
            <ns1:ext cx="147624" cy="0"/>
          </ns1:xfrm>
          <ns1:prstGeom prst="straightConnector1">
            <ns1:avLst/>
          </ns1:prstGeom>
          <ns1:ln w="7381">
            <ns1:solidFill>
              <ns1:srgbClr val="17212A"/>
            </ns1:solidFill>
            <ns1:prstDash val="solid"/>
            <ns1:tailEnd type="triangle" w="sm" len="sm"/>
          </ns1:ln>
        </ns0:spPr>
      </ns0:cxnSp>
      <ns0:cxnSp>
        <ns0:nvCxnSpPr>
          <ns0:cNvPr id="2048" name="">
            <ns1:extLst>
              <ns1:ext uri="{FF2B5EF4-FFF2-40B4-BE49-F238E27FC236}">
                <ns2:creationId id="{2F2AF750-9C0D-42FC-9A0C-6FDFC5B26691}"/>
              </ns1:ext>
            </ns1:extLst>
          </ns0:cNvPr>
          <ns0:cNvCxnSpPr>
            <ns1:stCxn id="2043" idx="3"/>
            <ns1:endCxn id="2044" idx="1"/>
          </ns0:cNvCxnSpPr>
          <ns0:nvPr/>
        </ns0:nvCxnSpPr>
        <ns0:spPr>
          <ns1:xfrm>
            <ns1:off x="3709041" y="2989377"/>
            <ns1:ext cx="147624" cy="0"/>
          </ns1:xfrm>
          <ns1:prstGeom prst="straightConnector1">
            <ns1:avLst/>
          </ns1:prstGeom>
          <ns1:ln w="7381">
            <ns1:solidFill>
              <ns1:srgbClr val="17212A"/>
            </ns1:solidFill>
            <ns1:prstDash val="solid"/>
            <ns1:tailEnd type="triangle" w="sm" len="sm"/>
          </ns1:ln>
        </ns0:spPr>
      </ns0:cxnSp>
      <ns0:cxnSp>
        <ns0:nvCxnSpPr>
          <ns0:cNvPr id="2047" name="">
            <ns1:extLst>
              <ns1:ext uri="{FF2B5EF4-FFF2-40B4-BE49-F238E27FC236}">
                <ns2:creationId id="{1C16A8FB-15CA-484B-AAF1-36E8B728B070}"/>
              </ns1:ext>
            </ns1:extLst>
          </ns0:cNvPr>
          <ns0:cNvCxnSpPr>
            <ns1:stCxn id="2042" idx="3"/>
            <ns1:endCxn id="2043" idx="1"/>
          </ns0:cNvCxnSpPr>
          <ns0:nvPr/>
        </ns0:nvCxnSpPr>
        <ns0:spPr>
          <ns1:xfrm>
            <ns1:off x="2269712" y="2989377"/>
            <ns1:ext cx="147624" cy="0"/>
          </ns1:xfrm>
          <ns1:prstGeom prst="straightConnector1">
            <ns1:avLst/>
          </ns1:prstGeom>
          <ns1:ln w="7381">
            <ns1:solidFill>
              <ns1:srgbClr val="17212A"/>
            </ns1:solidFill>
            <ns1:prstDash val="solid"/>
            <ns1:tailEnd type="triangle" w="sm" len="sm"/>
          </ns1:ln>
        </ns0:spPr>
      </ns0:cxnSp>
      <ns0:cxnSp>
        <ns0:nvCxnSpPr>
          <ns0:cNvPr id="2046" name="">
            <ns1:extLst>
              <ns1:ext uri="{FF2B5EF4-FFF2-40B4-BE49-F238E27FC236}">
                <ns2:creationId id="{DB748769-3798-4D60-A13E-36E73BBF80D4}"/>
              </ns1:ext>
            </ns1:extLst>
          </ns0:cNvPr>
          <ns0:cNvCxnSpPr>
            <ns1:stCxn id="2041" idx="3"/>
            <ns1:endCxn id="2042" idx="1"/>
          </ns0:cNvCxnSpPr>
          <ns0:nvPr/>
        </ns0:nvCxnSpPr>
        <ns0:spPr>
          <ns1:xfrm>
            <ns1:off x="941100" y="2989377"/>
            <ns1:ext cx="147624" cy="0"/>
          </ns1:xfrm>
          <ns1:prstGeom prst="straightConnector1">
            <ns1:avLst/>
          </ns1:prstGeom>
          <ns1:ln w="7381">
            <ns1:solidFill>
              <ns1:srgbClr val="17212A"/>
            </ns1:solidFill>
            <ns1:prstDash val="solid"/>
            <ns1:tailEnd type="triangle" w="sm" len="sm"/>
          </ns1:ln>
        </ns0:spPr>
      </ns0:cxnSp>
      <ns0:cxnSp>
        <ns0:nvCxnSpPr>
          <ns0:cNvPr id="2026" name="">
            <ns1:extLst>
              <ns1:ext uri="{FF2B5EF4-FFF2-40B4-BE49-F238E27FC236}">
                <ns2:creationId id="{84D2A14C-0967-4352-B5DC-0491A721C921}"/>
              </ns1:ext>
            </ns1:extLst>
          </ns0:cNvPr>
          <ns0:cNvCxnSpPr>
            <ns1:stCxn id="2019" idx="3"/>
            <ns1:endCxn id="2020" idx="1"/>
          </ns0:cNvCxnSpPr>
          <ns0:nvPr/>
        </ns0:nvCxnSpPr>
        <ns0:spPr>
          <ns1:xfrm>
            <ns1:off x="5591242" y="987233"/>
            <ns1:ext cx="129171" cy="0"/>
          </ns1:xfrm>
          <ns1:prstGeom prst="straightConnector1">
            <ns1:avLst/>
          </ns1:prstGeom>
          <ns1:ln w="7381">
            <ns1:solidFill>
              <ns1:srgbClr val="17212A"/>
            </ns1:solidFill>
            <ns1:prstDash val="solid"/>
            <ns1:tailEnd type="triangle" w="sm" len="sm"/>
          </ns1:ln>
        </ns0:spPr>
      </ns0:cxnSp>
      <ns0:cxnSp>
        <ns0:nvCxnSpPr>
          <ns0:cNvPr id="2025" name="">
            <ns1:extLst>
              <ns1:ext uri="{FF2B5EF4-FFF2-40B4-BE49-F238E27FC236}">
                <ns2:creationId id="{CB8408D5-017C-4B94-B07A-D22E7F50D23F}"/>
              </ns1:ext>
            </ns1:extLst>
          </ns0:cNvPr>
          <ns0:cNvCxnSpPr>
            <ns1:stCxn id="2018" idx="3"/>
            <ns1:endCxn id="2019" idx="1"/>
          </ns0:cNvCxnSpPr>
          <ns0:nvPr/>
        </ns0:nvCxnSpPr>
        <ns0:spPr>
          <ns1:xfrm>
            <ns1:off x="4410253" y="987233"/>
            <ns1:ext cx="129171" cy="0"/>
          </ns1:xfrm>
          <ns1:prstGeom prst="straightConnector1">
            <ns1:avLst/>
          </ns1:prstGeom>
          <ns1:ln w="7381">
            <ns1:solidFill>
              <ns1:srgbClr val="17212A"/>
            </ns1:solidFill>
            <ns1:prstDash val="solid"/>
            <ns1:tailEnd type="triangle" w="sm" len="sm"/>
          </ns1:ln>
        </ns0:spPr>
      </ns0:cxnSp>
      <ns0:cxnSp>
        <ns0:nvCxnSpPr>
          <ns0:cNvPr id="2024" name="">
            <ns1:extLst>
              <ns1:ext uri="{FF2B5EF4-FFF2-40B4-BE49-F238E27FC236}">
                <ns2:creationId id="{9FE6D00A-BD01-4A3E-AC02-7E09ED8DEFC1}"/>
              </ns1:ext>
            </ns1:extLst>
          </ns0:cNvPr>
          <ns0:cNvCxnSpPr>
            <ns1:stCxn id="2017" idx="3"/>
            <ns1:endCxn id="2018" idx="1"/>
          </ns0:cNvCxnSpPr>
          <ns0:nvPr/>
        </ns0:nvCxnSpPr>
        <ns0:spPr>
          <ns1:xfrm>
            <ns1:off x="3450700" y="987233"/>
            <ns1:ext cx="129171" cy="0"/>
          </ns1:xfrm>
          <ns1:prstGeom prst="straightConnector1">
            <ns1:avLst/>
          </ns1:prstGeom>
          <ns1:ln w="7381">
            <ns1:solidFill>
              <ns1:srgbClr val="17212A"/>
            </ns1:solidFill>
            <ns1:prstDash val="solid"/>
            <ns1:tailEnd type="triangle" w="sm" len="sm"/>
          </ns1:ln>
        </ns0:spPr>
      </ns0:cxnSp>
      <ns0:cxnSp>
        <ns0:nvCxnSpPr>
          <ns0:cNvPr id="2023" name="">
            <ns1:extLst>
              <ns1:ext uri="{FF2B5EF4-FFF2-40B4-BE49-F238E27FC236}">
                <ns2:creationId id="{7D0F37FD-C7B0-490C-8676-85DF468C841A}"/>
              </ns1:ext>
            </ns1:extLst>
          </ns0:cNvPr>
          <ns0:cNvCxnSpPr>
            <ns1:stCxn id="2016" idx="3"/>
            <ns1:endCxn id="2017" idx="1"/>
          </ns0:cNvCxnSpPr>
          <ns0:nvPr/>
        </ns0:nvCxnSpPr>
        <ns0:spPr>
          <ns1:xfrm>
            <ns1:off x="2952471" y="987233"/>
            <ns1:ext cx="129171" cy="0"/>
          </ns1:xfrm>
          <ns1:prstGeom prst="straightConnector1">
            <ns1:avLst/>
          </ns1:prstGeom>
          <ns1:ln w="7381">
            <ns1:solidFill>
              <ns1:srgbClr val="17212A"/>
            </ns1:solidFill>
            <ns1:prstDash val="solid"/>
            <ns1:tailEnd type="triangle" w="sm" len="sm"/>
          </ns1:ln>
        </ns0:spPr>
      </ns0:cxnSp>
      <ns0:cxnSp>
        <ns0:nvCxnSpPr>
          <ns0:cNvPr id="2022" name="">
            <ns1:extLst>
              <ns1:ext uri="{FF2B5EF4-FFF2-40B4-BE49-F238E27FC236}">
                <ns2:creationId id="{F263D660-93A5-4E93-8E75-A4ECA5B85E97}"/>
              </ns1:ext>
            </ns1:extLst>
          </ns0:cNvPr>
          <ns0:cNvCxnSpPr>
            <ns1:stCxn id="2015" idx="3"/>
            <ns1:endCxn id="2016" idx="1"/>
          </ns0:cNvCxnSpPr>
          <ns0:nvPr/>
        </ns0:nvCxnSpPr>
        <ns0:spPr>
          <ns1:xfrm>
            <ns1:off x="1863747" y="987233"/>
            <ns1:ext cx="129171" cy="0"/>
          </ns1:xfrm>
          <ns1:prstGeom prst="straightConnector1">
            <ns1:avLst/>
          </ns1:prstGeom>
          <ns1:ln w="7381">
            <ns1:solidFill>
              <ns1:srgbClr val="17212A"/>
            </ns1:solidFill>
            <ns1:prstDash val="solid"/>
            <ns1:tailEnd type="triangle" w="sm" len="sm"/>
          </ns1:ln>
        </ns0:spPr>
      </ns0:cxnSp>
      <ns0:cxnSp>
        <ns0:nvCxnSpPr>
          <ns0:cNvPr id="2021" name="">
            <ns1:extLst>
              <ns1:ext uri="{FF2B5EF4-FFF2-40B4-BE49-F238E27FC236}">
                <ns2:creationId id="{E3010D43-EF25-4C63-93CF-68E6F57BBB47}"/>
              </ns1:ext>
            </ns1:extLst>
          </ns0:cNvPr>
          <ns0:cNvCxnSpPr>
            <ns1:stCxn id="2014" idx="3"/>
            <ns1:endCxn id="2015" idx="1"/>
          </ns0:cNvCxnSpPr>
          <ns0:nvPr/>
        </ns0:nvCxnSpPr>
        <ns0:spPr>
          <ns1:xfrm>
            <ns1:off x="701212" y="987233"/>
            <ns1:ext cx="129171" cy="0"/>
          </ns1:xfrm>
          <ns1:prstGeom prst="straightConnector1">
            <ns1:avLst/>
          </ns1:prstGeom>
          <ns1:ln w="7381">
            <ns1:solidFill>
              <ns1:srgbClr val="17212A"/>
            </ns1:solidFill>
            <ns1:prstDash val="solid"/>
            <ns1:tailEnd type="triangle" w="sm" len="sm"/>
          </ns1:ln>
        </ns0:spPr>
      </ns0:cxnSp>
      <ns0:sp>
        <ns0:nvSpPr>
          <ns0:cNvPr id="3" name="panel_title__0002">
            <ns1:extLst>
              <ns1:ext uri="{FF2B5EF4-FFF2-40B4-BE49-F238E27FC236}">
                <ns2:creationId id="{4C1BCC6F-6B87-4BE2-81AF-AE22699CADB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6906" y="18453"/>
            <ns1:ext cx="6458530" cy="147624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ctr">
            <ns1:noAutofit/>
          </ns1:bodyPr>
          <ns1:lstStyle>
            <ns1:defPPr algn="l">
              <ns1:def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buNone/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901" b="1" i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(a) Fixed-budget entropy-coded transmission and recovery</ns1:t>
            </ns1:r>
          </ns1:p>
        </ns0:txBody>
      </ns0:sp>
      <ns0:sp>
        <ns0:nvSpPr>
          <ns0:cNvPr id="4" name="panel_title__0003">
            <ns1:extLst>
              <ns1:ext uri="{FF2B5EF4-FFF2-40B4-BE49-F238E27FC236}">
                <ns2:creationId id="{51A41F9F-5C4A-4D25-B2E2-544419C8A44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6906" y="195601"/>
            <ns1:ext cx="2915565" cy="129171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ctr">
            <ns1:noAutofit/>
          </ns1:bodyPr>
          <ns1:lstStyle>
            <ns1:def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Transmitter</ns1:t>
            </ns1:r>
          </ns1:p>
        </ns0:txBody>
      </ns0:sp>
      <ns0:sp>
        <ns0:nvSpPr>
          <ns0:cNvPr id="5" name="panel_title__0004">
            <ns1:extLst>
              <ns1:ext uri="{FF2B5EF4-FFF2-40B4-BE49-F238E27FC236}">
                <ns2:creationId id="{1B8159AA-3868-45B3-9E98-DB67494A790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42965" y="195601"/>
            <ns1:ext cx="2952471" cy="129171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ctr">
            <ns1:noAutofit/>
          </ns1:bodyPr>
          <ns1:lstStyle>
            <ns1:def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843" b="1" i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Receiver</ns1:t>
            </ns1:r>
          </ns1:p>
        </ns0:txBody>
      </ns0:sp>
      <ns0:sp>
        <ns0:nvSpPr>
          <ns0:cNvPr id="37" name="frozen_tokenizer__0028">
            <ns1:extLst>
              <ns1:ext uri="{FF2B5EF4-FFF2-40B4-BE49-F238E27FC236}">
                <ns2:creationId id="{B1AB0022-9495-4C73-947A-329CE4F1493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6906" y="1291706"/>
            <ns1:ext cx="664306" cy="250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ctr">
            <ns1:noAutofit/>
          </ns1:bodyPr>
          <ns1:lstStyle>
            <ns1:defPPr algn="l"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lnSpc>
                <ns1:spcPct val="115000"/>
              </ns1:lnSpc>
              <ns1:buNone/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Frozen tokenizer</ns1:t>
            </ns1:r>
          </ns1:p>
          <ns1:p>
            <ns1:pPr algn="l">
              <ns1:lnSpc>
                <ns1:spcPct val="115000"/>
              </ns1:lnSpc>
              <ns1:buNone/>
              <ns1:def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 i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RGB 256 × 256</ns1:t>
            </ns1:r>
          </ns1:p>
        </ns0:txBody>
      </ns0:sp>
      <ns0:sp>
        <ns0:nvSpPr>
          <ns0:cNvPr id="2003" name="new_policy__title_2">
            <ns1:extLst>
              <ns1:ext uri="{FF2B5EF4-FFF2-40B4-BE49-F238E27FC236}">
                <ns2:creationId id="{4E4A9509-E7D1-4FED-9222-2809FEA8477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01212" y="350606"/>
            <ns1:ext cx="2214353" cy="258341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ctr">
            <ns1:noAutofit/>
          </ns1:bodyPr>
          <ns1:lstStyle>
            <ns1:def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buNone/>
              <ns1:defRPr sz="700" b="1">
                <ns1:solidFill>
                  <ns1:srgbClr val="080C0E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buNone/>
              <ns1:defRPr sz="700" b="1">
                <ns1:solidFill>
                  <ns1:srgbClr val="080C0E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buNone/>
              <ns1:defRPr sz="700" b="1">
                <ns1:solidFill>
                  <ns1:srgbClr val="080C0E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buNone/>
              <ns1:defRPr sz="700" b="1">
                <ns1:solidFill>
                  <ns1:srgbClr val="080C0E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buNone/>
              <ns1:defRPr sz="700" b="1">
                <ns1:solidFill>
                  <ns1:srgbClr val="080C0E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buNone/>
              <ns1:defRPr sz="700" b="1">
                <ns1:solidFill>
                  <ns1:srgbClr val="080C0E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buNone/>
              <ns1:defRPr sz="700" b="1">
                <ns1:solidFill>
                  <ns1:srgbClr val="080C0E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buNone/>
              <ns1:defRPr sz="700" b="1">
                <ns1:solidFill>
                  <ns1:srgbClr val="080C0E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buNone/>
              <ns1:defRPr sz="700" b="1">
                <ns1:solidFill>
                  <ns1:srgbClr val="080C0E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buNone/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Frozen policy (N, SNR): target endpoint and MCS</ns1:t>
            </ns1:r>
          </ns1:p>
          <ns1:p>
            <ns1:pPr algn="l">
              <ns1:buNone/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Per-image fallback uses actual terminated length</ns1:t>
            </ns1:r>
          </ns1:p>
        </ns0:txBody>
      </ns0:sp>
      <ns0:sp>
        <ns0:nvSpPr>
          <ns0:cNvPr id="2013" name="new_policy__shared_prior_12">
            <ns1:extLst>
              <ns1:ext uri="{FF2B5EF4-FFF2-40B4-BE49-F238E27FC236}">
                <ns2:creationId id="{739695C1-4896-4D70-B4D1-5336691C1E3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42965" y="350606"/>
            <ns1:ext cx="2952471" cy="258341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ctr">
            <ns1:noAutofit/>
          </ns1:bodyPr>
          <ns1:lstStyle>
            <ns1:def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buNone/>
              <ns1:defRPr sz="700" b="1">
                <ns1:solidFill>
                  <ns1:srgbClr val="064D40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buNone/>
              <ns1:defRPr sz="700" b="1">
                <ns1:solidFill>
                  <ns1:srgbClr val="064D40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buNone/>
              <ns1:defRPr sz="700" b="1">
                <ns1:solidFill>
                  <ns1:srgbClr val="064D40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buNone/>
              <ns1:defRPr sz="700" b="1">
                <ns1:solidFill>
                  <ns1:srgbClr val="064D40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buNone/>
              <ns1:defRPr sz="700" b="1">
                <ns1:solidFill>
                  <ns1:srgbClr val="064D40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buNone/>
              <ns1:defRPr sz="700" b="1">
                <ns1:solidFill>
                  <ns1:srgbClr val="064D40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buNone/>
              <ns1:defRPr sz="700" b="1">
                <ns1:solidFill>
                  <ns1:srgbClr val="064D40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buNone/>
              <ns1:defRPr sz="700" b="1">
                <ns1:solidFill>
                  <ns1:srgbClr val="064D40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buNone/>
              <ns1:defRPr sz="700" b="1">
                <ns1:solidFill>
                  <ns1:srgbClr val="064D4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buNone/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Shared frozen VAR prior and codebook</ns1:t>
            </ns1:r>
          </ns1:p>
          <ns1:p>
            <ns1:pPr algn="l">
              <ns1:buNone/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RX reconstructs CDFs from received token history</ns1:t>
            </ns1:r>
          </ns1:p>
        </ns0:txBody>
      </ns0:sp>
      <ns0:sp>
        <ns0:nvSpPr>
          <ns0:cNvPr id="2014" name="tokenizer">
            <ns1:extLst>
              <ns1:ext uri="{FF2B5EF4-FFF2-40B4-BE49-F238E27FC236}">
                <ns2:creationId id="{FE1A0511-E838-48FA-BA95-0E6A14D2633C}"/>
              </ns1:ext>
            </ns1:extLst>
          </ns0:cNvPr>
          <ns0:cNvSpPr>
            <ns1:spLocks noGrp="1"/>
          </ns0:cNvSpPr>
          <ns0:nvPr/>
        </ns0:nvSpPr>
        <ns0:spPr>
          <ns1:xfrm>
            <ns1:off x="36906" y="701212"/>
            <ns1:ext cx="664306" cy="572041"/>
          </ns1:xfrm>
          <ns1:prstGeom prst="rect">
            <ns1:avLst/>
          </ns1:prstGeom>
          <ns1:solidFill>
            <ns1:srgbClr val="F1F6FB"/>
          </ns1:solidFill>
          <ns1:ln w="5536">
            <ns1:solidFill>
              <ns1:srgbClr val="3775BA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Visual encoder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+ multiscale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residual VQ</ns1:t>
            </ns1:r>
          </ns1:p>
        </ns0:txBody>
      </ns0:sp>
      <ns0:sp>
        <ns0:nvSpPr>
          <ns0:cNvPr id="2015" name="prefix_length">
            <ns1:extLst>
              <ns1:ext uri="{FF2B5EF4-FFF2-40B4-BE49-F238E27FC236}">
                <ns2:creationId id="{4ED06E0C-04D4-4F0A-A756-DDDC950A511E}"/>
              </ns1:ext>
            </ns1:extLst>
          </ns0:cNvPr>
          <ns0:cNvSpPr>
            <ns1:spLocks noGrp="1"/>
          </ns0:cNvSpPr>
          <ns0:nvPr/>
        </ns0:nvSpPr>
        <ns0:spPr>
          <ns1:xfrm>
            <ns1:off x="830382" y="701212"/>
            <ns1:ext cx="1033365" cy="572041"/>
          </ns1:xfrm>
          <ns1:prstGeom prst="rect">
            <ns1:avLst/>
          </ns1:prstGeom>
          <ns1:solidFill>
            <ns1:srgbClr val="FFF8E8"/>
          </ns1:solidFill>
          <ns1:ln w="5536">
            <ns1:solidFill>
              <ns1:srgbClr val="B49448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Within-scale prefix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Actual-length check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Lterm + 13 + 16 ≤ k</ns1:t>
            </ns1:r>
          </ns1:p>
        </ns0:txBody>
      </ns0:sp>
      <ns0:sp>
        <ns0:nvSpPr>
          <ns0:cNvPr id="2016" name="digital_transmitter">
            <ns1:extLst>
              <ns1:ext uri="{FF2B5EF4-FFF2-40B4-BE49-F238E27FC236}">
                <ns2:creationId id="{12736FE4-7C66-4FBD-8997-7B94B756D447}"/>
              </ns1:ext>
            </ns1:extLst>
          </ns0:cNvPr>
          <ns0:cNvSpPr>
            <ns1:spLocks noGrp="1"/>
          </ns0:cNvSpPr>
          <ns0:nvPr/>
        </ns0:nvSpPr>
        <ns0:spPr>
          <ns1:xfrm>
            <ns1:off x="1992918" y="701212"/>
            <ns1:ext cx="959553" cy="572041"/>
          </ns1:xfrm>
          <ns1:prstGeom prst="rect">
            <ns1:avLst/>
          </ns1:prstGeom>
          <ns1:solidFill>
            <ns1:srgbClr val="F1F6FB"/>
          </ns1:solidFill>
          <ns1:ln w="5536">
            <ns1:solidFill>
              <ns1:srgbClr val="3775BA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Terminated AC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Length / CRC / pad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LDPC + QAM</ns1:t>
            </ns1:r>
          </ns1:p>
        </ns0:txBody>
      </ns0:sp>
      <ns0:sp>
        <ns0:nvSpPr>
          <ns0:cNvPr id="2017" name="AWGN">
            <ns1:extLst>
              <ns1:ext uri="{FF2B5EF4-FFF2-40B4-BE49-F238E27FC236}">
                <ns2:creationId id="{76282ECC-A7ED-462A-A9E6-36B4CC9062FE}"/>
              </ns1:ext>
            </ns1:extLst>
          </ns0:cNvPr>
          <ns0:cNvSpPr>
            <ns1:spLocks noGrp="1"/>
          </ns0:cNvSpPr>
          <ns0:nvPr/>
        </ns0:nvSpPr>
        <ns0:spPr>
          <ns1:xfrm>
            <ns1:off x="3081641" y="701212"/>
            <ns1:ext cx="369059" cy="572041"/>
          </ns1:xfrm>
          <ns1:prstGeom prst="rect">
            <ns1:avLst/>
          </ns1:prstGeom>
          <ns1:solidFill>
            <ns1:srgbClr val="F4F1F7"/>
          </ns1:solidFill>
          <ns1:ln w="5536">
            <ns1:solidFill>
              <ns1:srgbClr val="8064A2"/>
            </ns1:solidFill>
          </ns1:ln>
        </ns0:spPr>
        <ns0:txBody>
          <ns1:bodyPr lIns="33215" tIns="33215" rIns="33215" bIns="33215" anchor="ctr"/>
          <ns1:lstStyle>
            <ns1:def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AWGN</ns1:t>
            </ns1:r>
          </ns1:p>
          <ns1:p>
            <ns1: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y = s+n</ns1:t>
            </ns1:r>
          </ns1:p>
          <ns1:p>
            <ns1: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Es = 2</ns1:t>
            </ns1:r>
          </ns1:p>
        </ns0:txBody>
      </ns0:sp>
      <ns0:sp>
        <ns0:nvSpPr>
          <ns0:cNvPr id="2018" name="digital_receiver">
            <ns1:extLst>
              <ns1:ext uri="{FF2B5EF4-FFF2-40B4-BE49-F238E27FC236}">
                <ns2:creationId id="{CC071A81-C934-4661-B20F-485F9847A95F}"/>
              </ns1:ext>
            </ns1:extLst>
          </ns0:cNvPr>
          <ns0:cNvSpPr>
            <ns1:spLocks noGrp="1"/>
          </ns0:cNvSpPr>
          <ns0:nvPr/>
        </ns0:nvSpPr>
        <ns0:spPr>
          <ns1:xfrm>
            <ns1:off x="3579871" y="701212"/>
            <ns1:ext cx="830382" cy="572041"/>
          </ns1:xfrm>
          <ns1:prstGeom prst="rect">
            <ns1:avLst/>
          </ns1:prstGeom>
          <ns1:solidFill>
            <ns1:srgbClr val="F0F7F2"/>
          </ns1:solidFill>
          <ns1:ln w="5536">
            <ns1:solidFill>
              <ns1:srgbClr val="5E966B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Header + body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QAM / LDPC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CRC + AC</ns1:t>
            </ns1:r>
          </ns1:p>
        </ns0:txBody>
      </ns0:sp>
      <ns0:sp>
        <ns0:nvSpPr>
          <ns0:cNvPr id="2019" name="prefix_reconstruction">
            <ns1:extLst>
              <ns1:ext uri="{FF2B5EF4-FFF2-40B4-BE49-F238E27FC236}">
                <ns2:creationId id="{EA3F79EF-B21E-4F67-8119-4A7304F36485}"/>
              </ns1:ext>
            </ns1:extLst>
          </ns0:cNvPr>
          <ns0:cNvSpPr>
            <ns1:spLocks noGrp="1"/>
          </ns0:cNvSpPr>
          <ns0:nvPr/>
        </ns0:nvSpPr>
        <ns0:spPr>
          <ns1:xfrm>
            <ns1:off x="4539424" y="701212"/>
            <ns1:ext cx="1051818" cy="572041"/>
          </ns1:xfrm>
          <ns1:prstGeom prst="rect">
            <ns1:avLst/>
          </ns1:prstGeom>
          <ns1:solidFill>
            <ns1:srgbClr val="F0F7F2"/>
          </ns1:solidFill>
          <ns1:ln w="5536">
            <ns1:solidFill>
              <ns1:srgbClr val="5E966B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Received token prefix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Predict and overwrite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Generate finer scales</ns1:t>
            </ns1:r>
          </ns1:p>
        </ns0:txBody>
      </ns0:sp>
      <ns0:sp>
        <ns0:nvSpPr>
          <ns0:cNvPr id="2020" name="latent_reconstruction">
            <ns1:extLst>
              <ns1:ext uri="{FF2B5EF4-FFF2-40B4-BE49-F238E27FC236}">
                <ns2:creationId id="{21CEE1B0-CB9A-499C-B683-151ADAED2E85}"/>
              </ns1:ext>
            </ns1:extLst>
          </ns0:cNvPr>
          <ns0:cNvSpPr>
            <ns1:spLocks noGrp="1"/>
          </ns0:cNvSpPr>
          <ns0:nvPr/>
        </ns0:nvSpPr>
        <ns0:spPr>
          <ns1:xfrm>
            <ns1:off x="5720412" y="701212"/>
            <ns1:ext cx="793477" cy="572041"/>
          </ns1:xfrm>
          <ns1:prstGeom prst="rect">
            <ns1:avLst/>
          </ns1:prstGeom>
          <ns1:solidFill>
            <ns1:srgbClr val="F0F7F2"/>
          </ns1:solidFill>
          <ns1:ln w="5536">
            <ns1:solidFill>
              <ns1:srgbClr val="5E966B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Codebook sum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Frozen Dc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RGB image</ns1:t>
            </ns1:r>
          </ns1:p>
        </ns0:txBody>
      </ns0:sp>
      <ns0:sp>
        <ns0:nvSpPr>
          <ns0:cNvPr id="2027" name="prefix_detail">
            <ns1:extLst>
              <ns1:ext uri="{FF2B5EF4-FFF2-40B4-BE49-F238E27FC236}">
                <ns2:creationId id="{77517A49-37E4-4ECF-B38B-BE1E76FD42DC}"/>
              </ns1:ext>
            </ns1:extLst>
          </ns0:cNvPr>
          <ns0:cNvSpPr>
            <ns1:spLocks noGrp="1"/>
          </ns0:cNvSpPr>
          <ns0:nvPr/>
        </ns0:nvSpPr>
        <ns0:spPr>
          <ns1:xfrm>
            <ns1:off x="830382" y="1291706"/>
            <ns1:ext cx="1033365" cy="280485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Complete scales 1…m</ns1:t>
            </ns1:r>
          </ns1:p>
          <ns1:p>
            <ns1: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+ first K of scale m+1</ns1:t>
            </ns1:r>
          </ns1:p>
        </ns0:txBody>
      </ns0:sp>
      <ns0:sp>
        <ns0:nvSpPr>
          <ns0:cNvPr id="2028" name="paid_header">
            <ns1:extLst>
              <ns1:ext uri="{FF2B5EF4-FFF2-40B4-BE49-F238E27FC236}">
                <ns2:creationId id="{80275809-350B-4B68-9C35-22F7D71FF10D}"/>
              </ns1:ext>
            </ns1:extLst>
          </ns0:cNvPr>
          <ns0:cNvSpPr>
            <ns1:spLocks noGrp="1"/>
          </ns0:cNvSpPr>
          <ns0:nvPr/>
        </ns0:nvSpPr>
        <ns0:spPr>
          <ns1:xfrm>
            <ns1:off x="1992918" y="1291706"/>
            <ns1:ext cx="1457782" cy="310009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Header: 68 symbols</ns1:t>
            </ns1:r>
          </ns1:p>
          <ns1:p>
            <ns1: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Body: 956 symbols</ns1:t>
            </ns1:r>
          </ns1:p>
          <ns1:p>
            <ns1: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Total: 1024 symbols</ns1:t>
            </ns1:r>
          </ns1:p>
        </ns0:txBody>
      </ns0:sp>
      <ns0:sp>
        <ns0:nvSpPr>
          <ns0:cNvPr id="2029" name="failure">
            <ns1:extLst>
              <ns1:ext uri="{FF2B5EF4-FFF2-40B4-BE49-F238E27FC236}">
                <ns2:creationId id="{C52D037B-F4BA-423B-97A6-0B8A1B7071E9}"/>
              </ns1:ext>
            </ns1:extLst>
          </ns0:cNvPr>
          <ns0:cNvSpPr>
            <ns1:spLocks noGrp="1"/>
          </ns0:cNvSpPr>
          <ns0:nvPr/>
        </ns0:nvSpPr>
        <ns0:spPr>
          <ns1:xfrm>
            <ns1:off x="3579871" y="1291706"/>
            <ns1:ext cx="2934018" cy="258341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Rejected header / payload / source decode: fixed gray output</ns1:t>
            </ns1:r>
          </ns1:p>
          <ns1:p>
            <ns1: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Decoded tokens are recovered; untransmitted tokens are generated.</ns1:t>
            </ns1:r>
          </ns1:p>
        </ns0:txBody>
      </ns0:sp>
      <ns0:sp>
        <ns0:nvSpPr>
          <ns0:cNvPr id="2030" name="util_heading">
            <ns1:extLst>
              <ns1:ext uri="{FF2B5EF4-FFF2-40B4-BE49-F238E27FC236}">
                <ns2:creationId id="{89E8C23E-5CDA-48D6-8E0B-E8E013644990}"/>
              </ns1:ext>
            </ns1:extLst>
          </ns0:cNvPr>
          <ns0:cNvSpPr>
            <ns1:spLocks noGrp="1"/>
          </ns0:cNvSpPr>
          <ns0:nvPr/>
        </ns0:nvSpPr>
        <ns0:spPr>
          <ns1:xfrm>
            <ns1:off x="36906" y="1697671"/>
            <ns1:ext cx="6458530" cy="147624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def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843" b="1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Entropy-bitstream capacity utilization · 10 dB · common500</ns1:t>
            </ns1:r>
          </ns1:p>
        </ns0:txBody>
      </ns0:sp>
      <ns0:sp>
        <ns0:nvSpPr>
          <ns0:cNvPr id="2031" name="util_definition">
            <ns1:extLst>
              <ns1:ext uri="{FF2B5EF4-FFF2-40B4-BE49-F238E27FC236}">
                <ns2:creationId id="{CC7CEA8D-3116-4E41-B3BC-70C93CF50B87}"/>
              </ns1:ext>
            </ns1:extLst>
          </ns0:cNvPr>
          <ns0:cNvSpPr>
            <ns1:spLocks noGrp="1"/>
          </ns0:cNvSpPr>
          <ns0:nvPr/>
        </ns0:nvSpPr>
        <ns0:spPr>
          <ns1:xfrm>
            <ns1:off x="36906" y="1863747"/>
            <ns1:ext cx="6458530" cy="132861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Terminated entropy bits / (k − 13 length bits − 16 CRC bits); usable capacity = 2520 bits</ns1:t>
            </ns1:r>
          </ns1:p>
        </ns0:txBody>
      </ns0:sp>
      <ns0:sp>
        <ns0:nvSpPr>
          <ns0:cNvPr id="2032" name="util_name_WHOLE">
            <ns1:extLst>
              <ns1:ext uri="{FF2B5EF4-FFF2-40B4-BE49-F238E27FC236}">
                <ns2:creationId id="{8D2F8D6E-76F9-47FA-B8DF-78ADE39B2EF6}"/>
              </ns1:ext>
            </ns1:extLst>
          </ns0:cNvPr>
          <ns0:cNvSpPr>
            <ns1:spLocks noGrp="1"/>
          </ns0:cNvSpPr>
          <ns0:nvPr/>
        </ns0:nvSpPr>
        <ns0:spPr>
          <ns1:xfrm>
            <ns1:off x="36906" y="2044586"/>
            <ns1:ext cx="775024" cy="136552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WHOLE</ns1:t>
            </ns1:r>
          </ns1:p>
        </ns0:txBody>
      </ns0:sp>
      <ns0:sp>
        <ns0:nvSpPr>
          <ns0:cNvPr id="2033" name="util_track_WHOLE">
            <ns1:extLst>
              <ns1:ext uri="{FF2B5EF4-FFF2-40B4-BE49-F238E27FC236}">
                <ns2:creationId id="{D4DBDAFC-3694-4E9F-AD6F-15DDD91AAB4A}"/>
              </ns1:ext>
            </ns1:extLst>
          </ns0:cNvPr>
          <ns0:cNvSpPr>
            <ns1:spLocks noGrp="1"/>
          </ns0:cNvSpPr>
          <ns0:nvPr/>
        </ns0:nvSpPr>
        <ns0:spPr>
          <ns1:xfrm>
            <ns1:off x="848835" y="2048277"/>
            <ns1:ext cx="4354894" cy="125480"/>
          </ns1:xfrm>
          <ns1:prstGeom prst="rect">
            <ns1:avLst/>
          </ns1:prstGeom>
          <ns1:solidFill>
            <ns1:srgbClr val="ECEEF0"/>
          </ns1:solidFill>
          <ns1:ln w="5536">
            <ns1:solidFill>
              <ns1:srgbClr val="BFC3C7"/>
            </ns1:solidFill>
          </ns1:ln>
        </ns0:spPr>
        <ns0:txBody>
          <ns1:bodyPr lIns="33215" tIns="33215" rIns="33215" bIns="33215" anchor="ctr"/>
          <ns1:lstStyle>
            <ns1:def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r>
              <ns1:t/>
            </ns1:r>
          </ns1:p>
        </ns0:txBody>
      </ns0:sp>
      <ns0:sp>
        <ns0:nvSpPr>
          <ns0:cNvPr id="2034" name="util_fill_WHOLE">
            <ns1:extLst>
              <ns1:ext uri="{FF2B5EF4-FFF2-40B4-BE49-F238E27FC236}">
                <ns2:creationId id="{20D6F323-2AAB-4EA3-8BF4-AE6D29E98A36}"/>
              </ns1:ext>
            </ns1:extLst>
          </ns0:cNvPr>
          <ns0:cNvSpPr>
            <ns1:spLocks noGrp="1"/>
          </ns0:cNvSpPr>
          <ns0:nvPr/>
        </ns0:nvSpPr>
        <ns0:spPr>
          <ns1:xfrm>
            <ns1:off x="848835" y="2048277"/>
            <ns1:ext cx="3383916" cy="125480"/>
          </ns1:xfrm>
          <ns1:prstGeom prst="rect">
            <ns1:avLst/>
          </ns1:prstGeom>
          <ns1:solidFill>
            <ns1:srgbClr val="767676"/>
          </ns1:solidFill>
          <ns1:ln w="5536">
            <ns1:solidFill>
              <ns1:srgbClr val="767676"/>
            </ns1:solidFill>
          </ns1:ln>
        </ns0:spPr>
        <ns0:txBody>
          <ns1:bodyPr lIns="33215" tIns="33215" rIns="33215" bIns="33215" anchor="ctr"/>
          <ns1:lstStyle>
            <ns1:def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r>
              <ns1:t/>
            </ns1:r>
          </ns1:p>
        </ns0:txBody>
      </ns0:sp>
      <ns0:sp>
        <ns0:nvSpPr>
          <ns0:cNvPr id="2035" name="util_value_WHOLE">
            <ns1:extLst>
              <ns1:ext uri="{FF2B5EF4-FFF2-40B4-BE49-F238E27FC236}">
                <ns2:creationId id="{C786C617-39C6-4A88-8E60-73360B2AA55C}"/>
              </ns1:ext>
            </ns1:extLst>
          </ns0:cNvPr>
          <ns0:cNvSpPr>
            <ns1:spLocks noGrp="1"/>
          </ns0:cNvSpPr>
          <ns0:nvPr/>
        </ns0:nvSpPr>
        <ns0:spPr>
          <ns1:xfrm>
            <ns1:off x="5314447" y="2026133"/>
            <ns1:ext cx="1144082" cy="169767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77.70%</ns1:t>
            </ns1:r>
          </ns1:p>
        </ns0:txBody>
      </ns0:sp>
      <ns0:sp>
        <ns0:nvSpPr>
          <ns0:cNvPr id="2036" name="util_name_PARTIAL">
            <ns1:extLst>
              <ns1:ext uri="{FF2B5EF4-FFF2-40B4-BE49-F238E27FC236}">
                <ns2:creationId id="{A1E98227-0141-44D2-A0E0-705770DE072B}"/>
              </ns1:ext>
            </ns1:extLst>
          </ns0:cNvPr>
          <ns0:cNvSpPr>
            <ns1:spLocks noGrp="1"/>
          </ns0:cNvSpPr>
          <ns0:nvPr/>
        </ns0:nvSpPr>
        <ns0:spPr>
          <ns1:xfrm>
            <ns1:off x="36906" y="2232806"/>
            <ns1:ext cx="775024" cy="136552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def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1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PARTIAL</ns1:t>
            </ns1:r>
          </ns1:p>
        </ns0:txBody>
      </ns0:sp>
      <ns0:sp>
        <ns0:nvSpPr>
          <ns0:cNvPr id="2037" name="util_track_PARTIAL">
            <ns1:extLst>
              <ns1:ext uri="{FF2B5EF4-FFF2-40B4-BE49-F238E27FC236}">
                <ns2:creationId id="{5114790C-D903-425B-96B2-FCAEAFAC9AF4}"/>
              </ns1:ext>
            </ns1:extLst>
          </ns0:cNvPr>
          <ns0:cNvSpPr>
            <ns1:spLocks noGrp="1"/>
          </ns0:cNvSpPr>
          <ns0:nvPr/>
        </ns0:nvSpPr>
        <ns0:spPr>
          <ns1:xfrm>
            <ns1:off x="848835" y="2236497"/>
            <ns1:ext cx="4354894" cy="125480"/>
          </ns1:xfrm>
          <ns1:prstGeom prst="rect">
            <ns1:avLst/>
          </ns1:prstGeom>
          <ns1:solidFill>
            <ns1:srgbClr val="ECEEF0"/>
          </ns1:solidFill>
          <ns1:ln w="5536">
            <ns1:solidFill>
              <ns1:srgbClr val="BFC3C7"/>
            </ns1:solidFill>
          </ns1:ln>
        </ns0:spPr>
        <ns0:txBody>
          <ns1:bodyPr lIns="33215" tIns="33215" rIns="33215" bIns="33215" anchor="ctr"/>
          <ns1:lstStyle>
            <ns1:def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r>
              <ns1:t/>
            </ns1:r>
          </ns1:p>
        </ns0:txBody>
      </ns0:sp>
      <ns0:sp>
        <ns0:nvSpPr>
          <ns0:cNvPr id="2038" name="util_fill_PARTIAL">
            <ns1:extLst>
              <ns1:ext uri="{FF2B5EF4-FFF2-40B4-BE49-F238E27FC236}">
                <ns2:creationId id="{A8EE7A96-1ECD-41FD-AFEB-B9357F11E270}"/>
              </ns1:ext>
            </ns1:extLst>
          </ns0:cNvPr>
          <ns0:cNvSpPr>
            <ns1:spLocks noGrp="1"/>
          </ns0:cNvSpPr>
          <ns0:nvPr/>
        </ns0:nvSpPr>
        <ns0:spPr>
          <ns1:xfrm>
            <ns1:off x="848835" y="2236497"/>
            <ns1:ext cx="4146209" cy="125480"/>
          </ns1:xfrm>
          <ns1:prstGeom prst="rect">
            <ns1:avLst/>
          </ns1:prstGeom>
          <ns1:solidFill>
            <ns1:srgbClr val="3775BA"/>
          </ns1:solidFill>
          <ns1:ln w="5536">
            <ns1:solidFill>
              <ns1:srgbClr val="3775BA"/>
            </ns1:solidFill>
          </ns1:ln>
        </ns0:spPr>
        <ns0:txBody>
          <ns1:bodyPr lIns="33215" tIns="33215" rIns="33215" bIns="33215" anchor="ctr"/>
          <ns1:lstStyle>
            <ns1:def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r>
              <ns1:t/>
            </ns1:r>
          </ns1:p>
        </ns0:txBody>
      </ns0:sp>
      <ns0:sp>
        <ns0:nvSpPr>
          <ns0:cNvPr id="2039" name="util_value_PARTIAL">
            <ns1:extLst>
              <ns1:ext uri="{FF2B5EF4-FFF2-40B4-BE49-F238E27FC236}">
                <ns2:creationId id="{D733E9BE-36F8-44CA-824C-910539EC8DE0}"/>
              </ns1:ext>
            </ns1:extLst>
          </ns0:cNvPr>
          <ns0:cNvSpPr>
            <ns1:spLocks noGrp="1"/>
          </ns0:cNvSpPr>
          <ns0:nvPr/>
        </ns0:nvSpPr>
        <ns0:spPr>
          <ns1:xfrm>
            <ns1:off x="5314447" y="2214353"/>
            <ns1:ext cx="1144082" cy="169767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def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814" b="1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95.21%</ns1:t>
            </ns1:r>
          </ns1:p>
        </ns0:txBody>
      </ns0:sp>
      <ns0:sp>
        <ns0:nvSpPr>
          <ns0:cNvPr id="2040" name="boundary_title">
            <ns1:extLst>
              <ns1:ext uri="{FF2B5EF4-FFF2-40B4-BE49-F238E27FC236}">
                <ns2:creationId id="{5995A45E-F3D7-4393-B931-0702CB27D947}"/>
              </ns1:ext>
            </ns1:extLst>
          </ns0:cNvPr>
          <ns0:cNvSpPr>
            <ns1:spLocks noGrp="1"/>
          </ns0:cNvSpPr>
          <ns0:nvPr/>
        </ns0:nvSpPr>
        <ns0:spPr>
          <ns1:xfrm>
            <ns1:off x="36906" y="2483766"/>
            <ns1:ext cx="6458530" cy="147624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def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901" b="1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(b) Prefix-constrained reconstruction · example m = 7, K = 75</ns1:t>
            </ns1:r>
          </ns1:p>
        </ns0:txBody>
      </ns0:sp>
      <ns0:sp>
        <ns0:nvSpPr>
          <ns0:cNvPr id="2041" name="decoded_context">
            <ns1:extLst>
              <ns1:ext uri="{FF2B5EF4-FFF2-40B4-BE49-F238E27FC236}">
                <ns2:creationId id="{C071F771-BBCF-40E1-8CBA-2725E9F402F0}"/>
              </ns1:ext>
            </ns1:extLst>
          </ns0:cNvPr>
          <ns0:cNvSpPr>
            <ns1:spLocks noGrp="1"/>
          </ns0:cNvSpPr>
          <ns0:nvPr/>
        </ns0:nvSpPr>
        <ns0:spPr>
          <ns1:xfrm>
            <ns1:off x="36906" y="2749488"/>
            <ns1:ext cx="904194" cy="479777"/>
          </ns1:xfrm>
          <ns1:prstGeom prst="rect">
            <ns1:avLst/>
          </ns1:prstGeom>
          <ns1:solidFill>
            <ns1:srgbClr val="F1F6FB"/>
          </ns1:solidFill>
          <ns1:ln w="5536">
            <ns1:solidFill>
              <ns1:srgbClr val="3775BA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Decoded scales 1–7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155 token indices</ns1:t>
            </ns1:r>
          </ns1:p>
        </ns0:txBody>
      </ns0:sp>
      <ns0:sp>
        <ns0:nvSpPr>
          <ns0:cNvPr id="2042" name="boundary_predict">
            <ns1:extLst>
              <ns1:ext uri="{FF2B5EF4-FFF2-40B4-BE49-F238E27FC236}">
                <ns2:creationId id="{E8881177-CF0C-48EF-93BD-A7FFC4D60A33}"/>
              </ns1:ext>
            </ns1:extLst>
          </ns0:cNvPr>
          <ns0:cNvSpPr>
            <ns1:spLocks noGrp="1"/>
          </ns0:cNvSpPr>
          <ns0:nvPr/>
        </ns0:nvSpPr>
        <ns0:spPr>
          <ns1:xfrm>
            <ns1:off x="1088724" y="2749488"/>
            <ns1:ext cx="1180988" cy="479777"/>
          </ns1:xfrm>
          <ns1:prstGeom prst="rect">
            <ns1:avLst/>
          </ns1:prstGeom>
          <ns1:solidFill>
            <ns1:srgbClr val="FFF8E8"/>
          </ns1:solidFill>
          <ns1:ln w="5536">
            <ns1:solidFill>
              <ns1:srgbClr val="B49448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Predict all 100 tokens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of boundary scale 8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from decoded context</ns1:t>
            </ns1:r>
          </ns1:p>
        </ns0:txBody>
      </ns0:sp>
      <ns0:sp>
        <ns0:nvSpPr>
          <ns0:cNvPr id="2043" name="boundary_overwrite">
            <ns1:extLst>
              <ns1:ext uri="{FF2B5EF4-FFF2-40B4-BE49-F238E27FC236}">
                <ns2:creationId id="{B8C07BA4-C76F-4FFE-B0E1-DE987EE96007}"/>
              </ns1:ext>
            </ns1:extLst>
          </ns0:cNvPr>
          <ns0:cNvSpPr>
            <ns1:spLocks noGrp="1"/>
          </ns0:cNvSpPr>
          <ns0:nvPr/>
        </ns0:nvSpPr>
        <ns0:spPr>
          <ns1:xfrm>
            <ns1:off x="2417335" y="2749488"/>
            <ns1:ext cx="1291706" cy="479777"/>
          </ns1:xfrm>
          <ns1:prstGeom prst="rect">
            <ns1:avLst/>
          </ns1:prstGeom>
          <ns1:solidFill>
            <ns1:srgbClr val="F1F6FB"/>
          </ns1:solidFill>
          <ns1:ln w="5536">
            <ns1:solidFill>
              <ns1:srgbClr val="3775BA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Overwrite first 75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with received tokens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Keep 25 predictions</ns1:t>
            </ns1:r>
          </ns1:p>
        </ns0:txBody>
      </ns0:sp>
      <ns0:sp>
        <ns0:nvSpPr>
          <ns0:cNvPr id="2044" name="advance">
            <ns1:extLst>
              <ns1:ext uri="{FF2B5EF4-FFF2-40B4-BE49-F238E27FC236}">
                <ns2:creationId id="{5B1B8120-5A56-45FF-A9A0-3BA5EA5E3DF7}"/>
              </ns1:ext>
            </ns1:extLst>
          </ns0:cNvPr>
          <ns0:cNvSpPr>
            <ns1:spLocks noGrp="1"/>
          </ns0:cNvSpPr>
          <ns0:nvPr/>
        </ns0:nvSpPr>
        <ns0:spPr>
          <ns1:xfrm>
            <ns1:off x="3856665" y="2749488"/>
            <ns1:ext cx="1180988" cy="479777"/>
          </ns1:xfrm>
          <ns1:prstGeom prst="rect">
            <ns1:avLst/>
          </ns1:prstGeom>
          <ns1:solidFill>
            <ns1:srgbClr val="F0F7F2"/>
          </ns1:solidFill>
          <ns1:ln w="5536">
            <ns1:solidFill>
              <ns1:srgbClr val="5E966B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Advance with the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merged scale-8 state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(75 received + 25 predicted)</ns1:t>
            </ns1:r>
          </ns1:p>
        </ns0:txBody>
      </ns0:sp>
      <ns0:sp>
        <ns0:nvSpPr>
          <ns0:cNvPr id="2045" name="finer_scales">
            <ns1:extLst>
              <ns1:ext uri="{FF2B5EF4-FFF2-40B4-BE49-F238E27FC236}">
                <ns2:creationId id="{9AA3216D-5F3D-4573-A751-49AF20B1F3DE}"/>
              </ns1:ext>
            </ns1:extLst>
          </ns0:cNvPr>
          <ns0:cNvSpPr>
            <ns1:spLocks noGrp="1"/>
          </ns0:cNvSpPr>
          <ns0:nvPr/>
        </ns0:nvSpPr>
        <ns0:spPr>
          <ns1:xfrm>
            <ns1:off x="5185277" y="2749488"/>
            <ns1:ext cx="1328612" cy="479777"/>
          </ns1:xfrm>
          <ns1:prstGeom prst="rect">
            <ns1:avLst/>
          </ns1:prstGeom>
          <ns1:solidFill>
            <ns1:srgbClr val="FFF8E8"/>
          </ns1:solidFill>
          <ns1:ln w="5536">
            <ns1:solidFill>
              <ns1:srgbClr val="B49448"/>
            </ns1:solidFill>
          </ns1:ln>
        </ns0:spPr>
        <ns0:txBody>
          <ns1:bodyPr lIns="33215" tIns="33215" rIns="33215" bIns="33215" anchor="ctr"/>
          <ns1:lstStyle>
            <ns1:def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Generate finer scales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Scale 9: 169 tokens</ns1:t>
            </ns1:r>
          </ns1:p>
          <ns1:p>
            <ns1:pPr algn="ctr">
              <ns1:def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85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Scale 10: 256 tokens</ns1:t>
            </ns1:r>
          </ns1:p>
        </ns0:txBody>
      </ns0:sp>
      <ns0:sp>
        <ns0:nvSpPr>
          <ns0:cNvPr id="2050" name="receiver_rule">
            <ns1:extLst>
              <ns1:ext uri="{FF2B5EF4-FFF2-40B4-BE49-F238E27FC236}">
                <ns2:creationId id="{5E20302E-E1A8-43A8-9D2F-D2742BCE642C}"/>
              </ns1:ext>
            </ns1:extLst>
          </ns0:cNvPr>
          <ns0:cNvSpPr>
            <ns1:spLocks noGrp="1"/>
          </ns0:cNvSpPr>
          <ns0:nvPr/>
        </ns0:nvSpPr>
        <ns0:spPr>
          <ns1:xfrm>
            <ns1:off x="36906" y="3314148"/>
            <ns1:ext cx="6458530" cy="195601"/>
          </ns1:xfrm>
          <ns1:prstGeom prst="rect">
            <ns1:avLst/>
          </ns1:prstGeom>
          <ns1:noFill/>
          <ns1:ln w="5536">
            <ns1:noFill/>
          </ns1:ln>
        </ns0:spPr>
        <ns0:txBody>
          <ns1:bodyPr lIns="0" tIns="0" rIns="0" bIns="0" anchor="ctr"/>
          <ns1:lstStyle>
            <ns1:def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defPPr>
            <ns1:lvl1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1pPr>
            <ns1:lvl2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2pPr>
            <ns1:lvl3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3pPr>
            <ns1:lvl4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4pPr>
            <ns1:lvl5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5pPr>
            <ns1:lvl6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6pPr>
            <ns1:lvl7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7pPr>
            <ns1:lvl8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8pPr>
            <ns1:lvl9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 algn="l">
              <ns1:def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defRPr>
            </ns1:pPr>
            <ns1:r>
              <ns1:rPr sz="756" b="0">
                <ns1:solidFill>
                  <ns1:srgbClr val="17212A"/>
                </ns1:solidFill>
                <ns1:latin typeface="Arial"/>
                <ns1:ea typeface="Arial"/>
                <ns1:cs typeface="Arial"/>
              </ns1:rPr>
              <ns1:t>Raster order fixes the received positions. Only received tokens overwrite predictions; source truth is unavailable at RX.</ns1:t>
            </ns1:r>
          </ns1:p>
        </ns0:txBody>
      </ns0:sp>
    </ns0:spTree>
    <ns0:extLst>
      <ns0:ext uri="{BB962C8B-B14F-4D97-AF65-F5344CB8AC3E}">
        <ns3:creationId val="20839360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2026-10-20T16:44:19.0420000Z</dcterms:created>
  <dcterms:modified xsi:type="dcterms:W3CDTF">2026-10-20T16:44:19.0420000Z</dcterms:modified>
</coreProperties>
</file>